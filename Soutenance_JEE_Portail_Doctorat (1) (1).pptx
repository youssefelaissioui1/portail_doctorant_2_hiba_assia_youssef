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0" y="0"/>
            <a:ext cx="548640" cy="6858000"/>
          </a:xfrm>
          <a:prstGeom prst="rect">
            <a:avLst/>
          </a:prstGeom>
          <a:solidFill>
            <a:srgbClr val="163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FFFFFF"/>
                </a:solidFill>
                <a:latin typeface="Calibri"/>
              </a:defRPr>
            </a:pPr>
            <a:r>
              <a:t>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5544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Portail de Suivi du Doctorat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3317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BBFE0"/>
                </a:solidFill>
                <a:latin typeface="Calibri"/>
              </a:defRPr>
            </a:pPr>
            <a:r>
              <a:t>Application Web Java EE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9039" y="457200"/>
            <a:ext cx="18288" cy="4206240"/>
          </a:xfrm>
          <a:prstGeom prst="rect">
            <a:avLst/>
          </a:prstGeom>
          <a:solidFill>
            <a:srgbClr val="1E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0" y="5486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Soutenance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0058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Matière : Java 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66420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BFE0"/>
                </a:solidFill>
                <a:latin typeface="Calibri"/>
              </a:defRPr>
            </a:pPr>
            <a:r>
              <a:t>Architecture Spring Boot · Thymeleaf · Spring Security · Spring Data JPA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2240280"/>
            <a:ext cx="4846320" cy="1828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0" y="2377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E7C7B"/>
                </a:solidFill>
                <a:latin typeface="Calibri"/>
              </a:defRPr>
            </a:pPr>
            <a:r>
              <a:t>Équipe de développement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2743200"/>
            <a:ext cx="4846320" cy="502920"/>
          </a:xfrm>
          <a:prstGeom prst="rect">
            <a:avLst/>
          </a:prstGeom>
          <a:solidFill>
            <a:srgbClr val="122368"/>
          </a:solidFill>
          <a:ln w="63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77639" y="2779776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👤  </a:t>
            </a:r>
            <a:r>
              <a:rPr lang="de-DE" dirty="0"/>
              <a:t>Youssef El Aissioui</a:t>
            </a:r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3840480" y="3337560"/>
            <a:ext cx="4846320" cy="502920"/>
          </a:xfrm>
          <a:prstGeom prst="rect">
            <a:avLst/>
          </a:prstGeom>
          <a:solidFill>
            <a:srgbClr val="122368"/>
          </a:solidFill>
          <a:ln w="63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77639" y="3374136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👤  </a:t>
            </a:r>
            <a:r>
              <a:rPr lang="de-DE" dirty="0"/>
              <a:t>Hiba El Khayat</a:t>
            </a:r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3840480" y="3931920"/>
            <a:ext cx="4846320" cy="502920"/>
          </a:xfrm>
          <a:prstGeom prst="rect">
            <a:avLst/>
          </a:prstGeom>
          <a:solidFill>
            <a:srgbClr val="122368"/>
          </a:solidFill>
          <a:ln w="63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77639" y="3968496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👤  </a:t>
            </a:r>
            <a:r>
              <a:rPr lang="de-DE" dirty="0"/>
              <a:t>Assia Abouzraa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3840480" y="4663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4B6CB7"/>
                </a:solidFill>
                <a:latin typeface="Calibri"/>
              </a:defRPr>
            </a:pPr>
            <a:r>
              <a:t>Année universitaire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54864" cy="5029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D1B4B"/>
                </a:solidFill>
                <a:latin typeface="Calibri"/>
              </a:defRPr>
            </a:pPr>
            <a:r>
              <a:t>Plan de la présentation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566928" cy="8686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56692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124712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1B4B"/>
                </a:solidFill>
                <a:latin typeface="Calibri"/>
              </a:defRPr>
            </a:pPr>
            <a:r>
              <a:t>Problématique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35607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Calibri"/>
              </a:defRPr>
            </a:pPr>
            <a:r>
              <a:t>Défis du suivi doctoral actuel et besoins identifiés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10312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2103120"/>
            <a:ext cx="566928" cy="86868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2103120"/>
            <a:ext cx="56692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176272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1B4B"/>
                </a:solidFill>
                <a:latin typeface="Calibri"/>
              </a:defRPr>
            </a:pPr>
            <a:r>
              <a:t>Objectifs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87168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Calibri"/>
              </a:defRPr>
            </a:pPr>
            <a:r>
              <a:t>Buts et ambitions du projet portail doctorat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154679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1480" y="3154679"/>
            <a:ext cx="566928" cy="868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3154679"/>
            <a:ext cx="56692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227832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1B4B"/>
                </a:solidFill>
                <a:latin typeface="Calibri"/>
              </a:defRPr>
            </a:pPr>
            <a:r>
              <a:t>Environnement technologique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538727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Calibri"/>
              </a:defRPr>
            </a:pPr>
            <a:r>
              <a:t>Stack technique : Spring Boot, JPA, Thymeleaf, Bootstrap...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20624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1480" y="4206240"/>
            <a:ext cx="566928" cy="86868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4206240"/>
            <a:ext cx="56692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279392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1B4B"/>
                </a:solidFill>
                <a:latin typeface="Calibri"/>
              </a:defRPr>
            </a:pPr>
            <a:r>
              <a:t>Architecture de développement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590288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Calibri"/>
              </a:defRPr>
            </a:pPr>
            <a:r>
              <a:t>Architecture MVC 3 couches et patterns utilisés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105156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709160" y="1051560"/>
            <a:ext cx="566928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09160" y="1051560"/>
            <a:ext cx="56692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1124712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1B4B"/>
                </a:solidFill>
                <a:latin typeface="Calibri"/>
              </a:defRPr>
            </a:pPr>
            <a:r>
              <a:t>Conception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1435607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Calibri"/>
              </a:defRPr>
            </a:pPr>
            <a:r>
              <a:t>Modélisation UML : cas d'utilisation et diagramme de classes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60" y="210312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09160" y="2103120"/>
            <a:ext cx="566928" cy="8686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09160" y="2103120"/>
            <a:ext cx="56692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2176272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1B4B"/>
                </a:solidFill>
                <a:latin typeface="Calibri"/>
              </a:defRPr>
            </a:pPr>
            <a:r>
              <a:t>Implémentation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2487168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Calibri"/>
              </a:defRPr>
            </a:pPr>
            <a:r>
              <a:t>Modules fonctionnels et démonstration des interfaces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09160" y="3154679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709160" y="3154679"/>
            <a:ext cx="566928" cy="8686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09160" y="3154679"/>
            <a:ext cx="56692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3227832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1B4B"/>
                </a:solidFill>
                <a:latin typeface="Calibri"/>
              </a:defRPr>
            </a:pPr>
            <a:r>
              <a:t>Conclusion &amp; Perspectives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9240" y="3538727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Calibri"/>
              </a:defRPr>
            </a:pPr>
            <a:r>
              <a:t>Bilan, compétences acquises et améliorations futures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54864" cy="5029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D1B4B"/>
                </a:solidFill>
                <a:latin typeface="Calibri"/>
              </a:defRPr>
            </a:pPr>
            <a:r>
              <a:t>01 · Problématique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39319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3931920" cy="384048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📋  Contexte actuel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374903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D1B4B"/>
                </a:solidFill>
                <a:latin typeface="Calibri"/>
              </a:defRPr>
            </a:pPr>
            <a:r>
              <a:t>• Suivi doctoral basé sur des procédures manuelles</a:t>
            </a:r>
            <a:br/>
            <a:r>
              <a:t>• Échanges par emails et documents papier</a:t>
            </a:r>
            <a:br/>
            <a:r>
              <a:t>• Absence d'outil centralisé de gestion</a:t>
            </a:r>
            <a:br/>
            <a:r>
              <a:t>• Difficulté de coordination entre acteurs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960120"/>
            <a:ext cx="41148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617720" y="960120"/>
            <a:ext cx="4114800" cy="384048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60" y="98755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⚠️  Problèmes identifiés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417320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D1B4B"/>
                </a:solidFill>
                <a:latin typeface="Calibri"/>
              </a:defRPr>
            </a:pPr>
            <a:r>
              <a:t>• Erreurs et retards dans les validations</a:t>
            </a:r>
            <a:br/>
            <a:r>
              <a:t>• Manque de visibilité sur l'avancement</a:t>
            </a:r>
            <a:br/>
            <a:r>
              <a:t>• Aucun circuit de validation centralisé</a:t>
            </a:r>
            <a:br/>
            <a:r>
              <a:t>• Difficulté à vérifier les prérequis de soutenance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794760"/>
            <a:ext cx="8321040" cy="1097280"/>
          </a:xfrm>
          <a:prstGeom prst="rect">
            <a:avLst/>
          </a:prstGeom>
          <a:solidFill>
            <a:srgbClr val="D6E4F7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8862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4F8A"/>
                </a:solidFill>
                <a:latin typeface="Calibri"/>
              </a:defRPr>
            </a:pPr>
            <a:r>
              <a:t>❓  Question centrale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D1B4B"/>
                </a:solidFill>
                <a:latin typeface="Calibri"/>
              </a:defRPr>
            </a:pPr>
            <a:r>
              <a:t>Comment concevoir et développer un portail web centralisé permettant de gérer efficacement le suivi doctoral (inscriptions, soutenances, publications, formations) tout en assurant un circuit de validation multi-niveaux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54864" cy="5029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D1B4B"/>
                </a:solidFill>
                <a:latin typeface="Calibri"/>
              </a:defRPr>
            </a:pPr>
            <a:r>
              <a:t>02 · Objectifs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8321040" cy="10058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🎯  Objectif général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Concevoir et implémenter un portail web de suivi doctoral permettant la gestion centralisée des inscriptions, soutenances, publications et formations avec un circuit de validation structuré.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148840"/>
            <a:ext cx="27432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2148840"/>
            <a:ext cx="2743200" cy="3657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📝  Dématérialiser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69464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D1B4B"/>
                </a:solidFill>
                <a:latin typeface="Calibri"/>
              </a:defRPr>
            </a:pPr>
            <a:r>
              <a:t>Remplacer les procédures papier par un workflow numérique fluide et traçable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9272" y="2148840"/>
            <a:ext cx="27432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19272" y="2148840"/>
            <a:ext cx="2743200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19272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🔐  Sécuriser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2569464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D1B4B"/>
                </a:solidFill>
                <a:latin typeface="Calibri"/>
              </a:defRPr>
            </a:pPr>
            <a:r>
              <a:t>Authentification multi-rôles avec Spring Security (Doctorant, Directeur, Admin)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7064" y="2148840"/>
            <a:ext cx="27432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27064" y="2148840"/>
            <a:ext cx="2743200" cy="36576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27064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⚡  Automatiser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2569464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D1B4B"/>
                </a:solidFill>
                <a:latin typeface="Calibri"/>
              </a:defRPr>
            </a:pPr>
            <a:r>
              <a:t>Vérification automatique des prérequis de soutenance et règles métier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383280"/>
            <a:ext cx="27432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1480" y="3383280"/>
            <a:ext cx="274320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📊  Visualiser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803904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D1B4B"/>
                </a:solidFill>
                <a:latin typeface="Calibri"/>
              </a:defRPr>
            </a:pPr>
            <a:r>
              <a:t>Tableaux de bord en temps réel avec jauges de progression et alertes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19272" y="3383280"/>
            <a:ext cx="27432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319272" y="3383280"/>
            <a:ext cx="274320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319272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🔄  Valider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10712" y="3803904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D1B4B"/>
                </a:solidFill>
                <a:latin typeface="Calibri"/>
              </a:defRPr>
            </a:pPr>
            <a:r>
              <a:t>Circuit de validation multi-niveaux : Doctorant → Directeur → Admin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27064" y="3383280"/>
            <a:ext cx="27432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27064" y="3383280"/>
            <a:ext cx="2743200" cy="36576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27064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📚  Centraliser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504" y="3803904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D1B4B"/>
                </a:solidFill>
                <a:latin typeface="Calibri"/>
              </a:defRPr>
            </a:pPr>
            <a:r>
              <a:t>Regroupement de toutes les données doctorales en un seul point d'accès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709160"/>
            <a:ext cx="8321040" cy="3200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4736592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1A4F8A"/>
                </a:solidFill>
                <a:latin typeface="Calibri"/>
              </a:defRPr>
            </a:pPr>
            <a:r>
              <a:t>📏  Contraintes : Durée max 3/6 ans · 2 articles Q1/Q2 · 2 conférences · 200h de formation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54864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D1B4B"/>
                </a:solidFill>
                <a:latin typeface="Calibri"/>
              </a:defRPr>
            </a:pPr>
            <a:r>
              <a:t>03 · Environnement technologique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393192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3931920" cy="384048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⚙️  Backend &amp;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3749039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0D1B4B"/>
                </a:solidFill>
                <a:latin typeface="Calibri"/>
              </a:defRPr>
            </a:pPr>
            <a:r>
              <a:rPr dirty="0"/>
              <a:t>• Java 17</a:t>
            </a:r>
            <a:br>
              <a:rPr dirty="0"/>
            </a:br>
            <a:r>
              <a:rPr dirty="0"/>
              <a:t>• Spring Boot 3.x</a:t>
            </a:r>
            <a:br>
              <a:rPr dirty="0"/>
            </a:br>
            <a:r>
              <a:rPr dirty="0"/>
              <a:t>• Spring MVC</a:t>
            </a:r>
            <a:br>
              <a:rPr dirty="0"/>
            </a:br>
            <a:r>
              <a:rPr dirty="0"/>
              <a:t>• Spring Data JPA</a:t>
            </a:r>
            <a:br>
              <a:rPr dirty="0"/>
            </a:br>
            <a:r>
              <a:rPr dirty="0"/>
              <a:t>• Hibernate ORM</a:t>
            </a:r>
            <a:br>
              <a:rPr dirty="0"/>
            </a:br>
            <a:r>
              <a:rPr dirty="0"/>
              <a:t>• Lombok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960120"/>
            <a:ext cx="41148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617720" y="960120"/>
            <a:ext cx="4114800" cy="3840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60" y="98755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🎨  Frontend &amp;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41732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0D1B4B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Thymeleaf</a:t>
            </a:r>
            <a:r>
              <a:rPr dirty="0"/>
              <a:t> (</a:t>
            </a:r>
            <a:r>
              <a:rPr dirty="0" err="1"/>
              <a:t>moteur</a:t>
            </a:r>
            <a:r>
              <a:rPr dirty="0"/>
              <a:t> de templates)</a:t>
            </a:r>
            <a:br>
              <a:rPr dirty="0"/>
            </a:br>
            <a:r>
              <a:rPr dirty="0"/>
              <a:t>• HTML5 / CSS3</a:t>
            </a:r>
            <a:br>
              <a:rPr dirty="0"/>
            </a:br>
            <a:r>
              <a:rPr dirty="0"/>
              <a:t>• Bootstrap 5</a:t>
            </a:r>
            <a:br>
              <a:rPr dirty="0"/>
            </a:br>
            <a:r>
              <a:rPr dirty="0"/>
              <a:t>• JavaScript (Vanilla)</a:t>
            </a:r>
            <a:br>
              <a:rPr dirty="0"/>
            </a:br>
            <a:r>
              <a:rPr dirty="0"/>
              <a:t>• Font Awesome / Emojis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520440"/>
            <a:ext cx="3931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" y="3520440"/>
            <a:ext cx="3931920" cy="38404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54787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🗄️  Base de données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977639"/>
            <a:ext cx="374903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0D1B4B"/>
                </a:solidFill>
                <a:latin typeface="Calibri"/>
              </a:defRPr>
            </a:pPr>
            <a:r>
              <a:rPr dirty="0"/>
              <a:t>• H2 (</a:t>
            </a:r>
            <a:r>
              <a:rPr dirty="0" err="1"/>
              <a:t>développement</a:t>
            </a:r>
            <a:r>
              <a:rPr dirty="0"/>
              <a:t> &amp; tests)</a:t>
            </a:r>
            <a:br>
              <a:rPr dirty="0"/>
            </a:br>
            <a:r>
              <a:rPr dirty="0"/>
              <a:t>• JPA / Hibernate DDL-auto</a:t>
            </a:r>
            <a:br>
              <a:rPr dirty="0"/>
            </a:br>
            <a:r>
              <a:rPr dirty="0"/>
              <a:t>• Scripts SQL </a:t>
            </a:r>
            <a:r>
              <a:rPr dirty="0" err="1"/>
              <a:t>d'initialisation</a:t>
            </a:r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4617720" y="352044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17720" y="3520440"/>
            <a:ext cx="4114800" cy="384048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09160" y="354787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🛠️  Outils &amp; Déploiement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977639"/>
            <a:ext cx="39319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0D1B4B"/>
                </a:solidFill>
                <a:latin typeface="Calibri"/>
              </a:defRPr>
            </a:pPr>
            <a:r>
              <a:rPr dirty="0"/>
              <a:t>• Maven (gestion de </a:t>
            </a:r>
            <a:r>
              <a:rPr dirty="0" err="1"/>
              <a:t>dépendances</a:t>
            </a:r>
            <a:r>
              <a:rPr dirty="0"/>
              <a:t>)</a:t>
            </a:r>
            <a:br>
              <a:rPr dirty="0"/>
            </a:br>
            <a:r>
              <a:rPr dirty="0"/>
              <a:t>• Git &amp; GitHub (versioning)</a:t>
            </a:r>
            <a:br>
              <a:rPr dirty="0"/>
            </a:br>
            <a:r>
              <a:rPr dirty="0"/>
              <a:t>• IntelliJ IDEA (IDE)</a:t>
            </a:r>
            <a:br>
              <a:rPr dirty="0"/>
            </a:br>
            <a:r>
              <a:rPr dirty="0"/>
              <a:t>• </a:t>
            </a:r>
            <a:r>
              <a:rPr lang="de-DE" dirty="0"/>
              <a:t>Postman (tester les apis)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54864" cy="50292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D1B4B"/>
                </a:solidFill>
                <a:latin typeface="Calibri"/>
              </a:defRPr>
            </a:pPr>
            <a:r>
              <a:t>04 · Architecture de développement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27432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2743200" cy="5029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🖥️  Couche Présentation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36192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D1B4B"/>
                </a:solidFill>
                <a:latin typeface="Calibri"/>
              </a:defRPr>
            </a:pPr>
            <a:r>
              <a:t>Thymeleaf · Bootstrap 5 · CSS3 · 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4748B"/>
                </a:solidFill>
                <a:latin typeface="Calibri"/>
              </a:defRPr>
            </a:pPr>
            <a:r>
              <a:t>Gère l'interface utilisateur et les interactions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00400" y="2011680"/>
            <a:ext cx="41148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0" y="960120"/>
            <a:ext cx="27432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91840" y="960120"/>
            <a:ext cx="2743200" cy="5029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1840" y="9601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⚙️  Couche Métier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536192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D1B4B"/>
                </a:solidFill>
                <a:latin typeface="Calibri"/>
              </a:defRPr>
            </a:pPr>
            <a:r>
              <a:rPr dirty="0"/>
              <a:t>Spring Boot 3 · Spring MVC · Spring Security ·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286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4748B"/>
                </a:solidFill>
                <a:latin typeface="Calibri"/>
              </a:defRPr>
            </a:pPr>
            <a:r>
              <a:t>Traite la logique métier et la sécurité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80760" y="2011680"/>
            <a:ext cx="41148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960120"/>
            <a:ext cx="27432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960120"/>
            <a:ext cx="2743200" cy="502920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72200" y="9601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🗄️  Couche Données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536192"/>
            <a:ext cx="2560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D1B4B"/>
                </a:solidFill>
                <a:latin typeface="Calibri"/>
              </a:defRPr>
            </a:pPr>
            <a:r>
              <a:rPr dirty="0"/>
              <a:t>Spring Data JPA · Hibernate · H2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286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4748B"/>
                </a:solidFill>
                <a:latin typeface="Calibri"/>
              </a:defRPr>
            </a:pPr>
            <a:r>
              <a:t>Persiste et récupère les données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74903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1B4B"/>
                </a:solidFill>
                <a:latin typeface="Calibri"/>
              </a:defRPr>
            </a:pPr>
            <a:r>
              <a:t>Patterns &amp; Principes architecturaux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114800"/>
            <a:ext cx="2011680" cy="777240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4133087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4F8A"/>
                </a:solidFill>
                <a:latin typeface="Calibri"/>
              </a:defRPr>
            </a:pPr>
            <a:r>
              <a:t>MVC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3891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D1B4B"/>
                </a:solidFill>
                <a:latin typeface="Calibri"/>
              </a:defRPr>
            </a:pPr>
            <a:r>
              <a:t>Model-View-Controller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6177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4748B"/>
                </a:solidFill>
                <a:latin typeface="Calibri"/>
              </a:defRPr>
            </a:pPr>
            <a:r>
              <a:t>Séparation des responsabilités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4114800"/>
            <a:ext cx="2011680" cy="777240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560320" y="4133087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4F8A"/>
                </a:solidFill>
                <a:latin typeface="Calibri"/>
              </a:defRPr>
            </a:pPr>
            <a:r>
              <a:rPr dirty="0"/>
              <a:t>DAO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43891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D1B4B"/>
                </a:solidFill>
                <a:latin typeface="Calibri"/>
              </a:defRPr>
            </a:pPr>
            <a:r>
              <a:t>Data Access Object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46177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4748B"/>
                </a:solidFill>
                <a:latin typeface="Calibri"/>
              </a:defRPr>
            </a:pPr>
            <a:r>
              <a:t>Abstraction de la persistance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60" y="4114800"/>
            <a:ext cx="2011680" cy="777240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09160" y="4133087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4F8A"/>
                </a:solidFill>
                <a:latin typeface="Calibri"/>
              </a:defRPr>
            </a:pPr>
            <a:r>
              <a:t>IoC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43891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D1B4B"/>
                </a:solidFill>
                <a:latin typeface="Calibri"/>
              </a:defRPr>
            </a:pPr>
            <a:r>
              <a:rPr dirty="0"/>
              <a:t>Inversion of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46177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4748B"/>
                </a:solidFill>
                <a:latin typeface="Calibri"/>
              </a:defRPr>
            </a:pPr>
            <a:r>
              <a:t>Injection de dépendances Spring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114800"/>
            <a:ext cx="2011680" cy="777240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0" y="4133087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4F8A"/>
                </a:solidFill>
                <a:latin typeface="Calibri"/>
              </a:defRPr>
            </a:pPr>
            <a:r>
              <a:t>SRP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3891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D1B4B"/>
                </a:solidFill>
                <a:latin typeface="Calibri"/>
              </a:defRPr>
            </a:pPr>
            <a:r>
              <a:t>Single Responsibility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6177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64748B"/>
                </a:solidFill>
                <a:latin typeface="Calibri"/>
              </a:defRPr>
            </a:pPr>
            <a:r>
              <a:t>Une classe = une responsabilité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D1B4B"/>
                </a:solidFill>
                <a:latin typeface="Calibri"/>
              </a:defRPr>
            </a:pPr>
            <a:r>
              <a:t>05 · Conception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A7EAFEB9-7E5F-6494-A905-49CA15277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3042" y="702450"/>
            <a:ext cx="2667000" cy="5753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A25EF6-6645-EDB7-9338-C7E382462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04" y="948442"/>
            <a:ext cx="6696075" cy="53816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54864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D1B4B"/>
                </a:solidFill>
                <a:latin typeface="Calibri"/>
              </a:defRPr>
            </a:pPr>
            <a:r>
              <a:t>06 · Implémentation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005840"/>
            <a:ext cx="2743200" cy="45720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📝  Authentification &amp; Comptes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17904"/>
            <a:ext cx="25603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D1B4B"/>
                </a:solidFill>
                <a:latin typeface="Calibri"/>
              </a:defRPr>
            </a:pPr>
            <a:r>
              <a:t>• Inscription / Connexion sécurisée</a:t>
            </a:r>
            <a:br/>
            <a:r>
              <a:t>• Rôles : Doctorant · Directeur · Admin</a:t>
            </a:r>
            <a:br/>
            <a:r>
              <a:t>• BCrypt + Spring Security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9272" y="100584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19272" y="1005840"/>
            <a:ext cx="2743200" cy="4572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19272" y="1005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📋  Module Inscription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1517904"/>
            <a:ext cx="25603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D1B4B"/>
                </a:solidFill>
                <a:latin typeface="Calibri"/>
              </a:defRPr>
            </a:pPr>
            <a:r>
              <a:t>• Campagnes par année universitaire</a:t>
            </a:r>
            <a:br/>
            <a:r>
              <a:t>• Circuit : Doctorant → Directeur → Admin</a:t>
            </a:r>
            <a:br/>
            <a:r>
              <a:t>• Règles durée 3/6 ans + dérogation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7064" y="100584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27064" y="1005840"/>
            <a:ext cx="274320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27064" y="1005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🎓  Module Soutenance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1517904"/>
            <a:ext cx="25603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D1B4B"/>
                </a:solidFill>
                <a:latin typeface="Calibri"/>
              </a:defRPr>
            </a:pPr>
            <a:r>
              <a:t>• Vérification auto des prérequis</a:t>
            </a:r>
            <a:br/>
            <a:r>
              <a:t>• Proposition du jury par le directeur</a:t>
            </a:r>
            <a:br/>
            <a:r>
              <a:t>• Autorisation + planification admin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944368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" y="2944368"/>
            <a:ext cx="274320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29443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📚  Publications &amp; Formations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456432"/>
            <a:ext cx="25603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D1B4B"/>
                </a:solidFill>
                <a:latin typeface="Calibri"/>
              </a:defRPr>
            </a:pPr>
            <a:r>
              <a:t>• 2 articles Q1/Q2 minimum</a:t>
            </a:r>
            <a:br/>
            <a:r>
              <a:t>• 2 conférences minimum</a:t>
            </a:r>
            <a:br/>
            <a:r>
              <a:t>• 200h de formation doctorante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9272" y="2944368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319272" y="2944368"/>
            <a:ext cx="2743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19272" y="29443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📊  Tableau de bord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0712" y="3456432"/>
            <a:ext cx="25603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D1B4B"/>
                </a:solidFill>
                <a:latin typeface="Calibri"/>
              </a:defRPr>
            </a:pPr>
            <a:r>
              <a:t>• Suivi en temps réel</a:t>
            </a:r>
            <a:br/>
            <a:r>
              <a:t>• Jauges de progression</a:t>
            </a:r>
            <a:br/>
            <a:r>
              <a:t>• Alertes dépassement de durée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27064" y="2944368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27064" y="2944368"/>
            <a:ext cx="2743200" cy="4572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27064" y="29443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🔧  Administration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8504" y="3456432"/>
            <a:ext cx="25603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D1B4B"/>
                </a:solidFill>
                <a:latin typeface="Calibri"/>
              </a:defRPr>
            </a:pPr>
            <a:r>
              <a:t>• Gestion utilisateurs &amp; rôles</a:t>
            </a:r>
            <a:br/>
            <a:r>
              <a:t>• Campagnes d'inscription</a:t>
            </a:r>
            <a:br/>
            <a:r>
              <a:t>• Statistiques globales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47472"/>
            <a:ext cx="54864" cy="5029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D1B4B"/>
                </a:solidFill>
                <a:latin typeface="Calibri"/>
              </a:defRPr>
            </a:pPr>
            <a:r>
              <a:t>07 · Conclusion &amp; Perspectives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87552"/>
            <a:ext cx="393192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3931920" cy="384048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💡  Compétences acquises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35608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0D1B4B"/>
                </a:solidFill>
                <a:latin typeface="Calibri"/>
              </a:defRPr>
            </a:pPr>
            <a:r>
              <a:t>• Architecture MVC avec Spring Boot</a:t>
            </a:r>
            <a:br/>
            <a:r>
              <a:t>• Spring Security (rôles, BCrypt, session)</a:t>
            </a:r>
            <a:br/>
            <a:r>
              <a:t>• Spring Data JPA &amp; héritage d'entités</a:t>
            </a:r>
            <a:br/>
            <a:r>
              <a:t>• Moteur de templates Thymeleaf</a:t>
            </a:r>
            <a:br/>
            <a:r>
              <a:t>• SQL d'initialisation &amp; Hibernate DDL</a:t>
            </a:r>
            <a:br/>
            <a:r>
              <a:t>• Git collaboratif et gestion de projet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987552"/>
            <a:ext cx="41148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617720" y="987552"/>
            <a:ext cx="4114800" cy="384048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60" y="100584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⚠️  Difficultés rencontrées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435608"/>
            <a:ext cx="39319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0D1B4B"/>
                </a:solidFill>
                <a:latin typeface="Calibri"/>
              </a:defRPr>
            </a:pPr>
            <a:r>
              <a:rPr dirty="0"/>
              <a:t>• Spring Security : configuration multi-</a:t>
            </a:r>
            <a:r>
              <a:rPr dirty="0" err="1"/>
              <a:t>rôles</a:t>
            </a:r>
            <a:br>
              <a:rPr dirty="0"/>
            </a:br>
            <a:r>
              <a:rPr dirty="0"/>
              <a:t>• </a:t>
            </a:r>
            <a:r>
              <a:rPr dirty="0" err="1"/>
              <a:t>Intégration</a:t>
            </a:r>
            <a:r>
              <a:rPr dirty="0"/>
              <a:t> CSRF dans </a:t>
            </a:r>
            <a:r>
              <a:rPr dirty="0" err="1"/>
              <a:t>formulaires</a:t>
            </a:r>
            <a:r>
              <a:rPr dirty="0"/>
              <a:t> </a:t>
            </a:r>
            <a:r>
              <a:rPr dirty="0" err="1"/>
              <a:t>Thymeleaf</a:t>
            </a:r>
            <a:br>
              <a:rPr dirty="0"/>
            </a:br>
            <a:r>
              <a:rPr dirty="0"/>
              <a:t>• </a:t>
            </a:r>
            <a:r>
              <a:rPr dirty="0" err="1"/>
              <a:t>Alignement</a:t>
            </a:r>
            <a:r>
              <a:rPr dirty="0"/>
              <a:t> des noms de champs </a:t>
            </a:r>
            <a:r>
              <a:rPr dirty="0" err="1"/>
              <a:t>Thymeleaf</a:t>
            </a:r>
            <a:r>
              <a:rPr dirty="0"/>
              <a:t> / Java</a:t>
            </a:r>
            <a:br>
              <a:rPr dirty="0"/>
            </a:br>
            <a:r>
              <a:rPr dirty="0"/>
              <a:t>• </a:t>
            </a:r>
            <a:r>
              <a:rPr dirty="0" err="1"/>
              <a:t>Résolution</a:t>
            </a:r>
            <a:r>
              <a:rPr dirty="0"/>
              <a:t> des </a:t>
            </a:r>
            <a:r>
              <a:rPr dirty="0" err="1"/>
              <a:t>conflits</a:t>
            </a:r>
            <a:r>
              <a:rPr dirty="0"/>
              <a:t> de </a:t>
            </a:r>
            <a:r>
              <a:rPr dirty="0" err="1"/>
              <a:t>dépendances</a:t>
            </a:r>
            <a:r>
              <a:rPr dirty="0"/>
              <a:t> Maven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520440"/>
            <a:ext cx="8321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" y="3520440"/>
            <a:ext cx="8321040" cy="38404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538728"/>
            <a:ext cx="8138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🚀  Perspectives &amp; Améliorations futures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986784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0D1B4B"/>
                </a:solidFill>
                <a:latin typeface="Calibri"/>
              </a:defRPr>
            </a:pPr>
            <a:r>
              <a:t>📧  Notifications email automatiques (Spring Mail)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986784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0D1B4B"/>
                </a:solidFill>
                <a:latin typeface="Calibri"/>
              </a:defRPr>
            </a:pPr>
            <a:r>
              <a:t>📱  Application mobile (React Native / Flutter)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0740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0D1B4B"/>
                </a:solidFill>
                <a:latin typeface="Calibri"/>
              </a:defRPr>
            </a:pPr>
            <a:r>
              <a:t>📊  Tableaux de bord analytiques avancés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40740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0D1B4B"/>
                </a:solidFill>
                <a:latin typeface="Calibri"/>
              </a:defRPr>
            </a:pPr>
            <a:r>
              <a:t>🔒  Authentification OAuth2 / SSO institutionnel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FFFFFF"/>
                </a:solidFill>
                <a:latin typeface="Calibri"/>
              </a:defRPr>
            </a:pPr>
            <a:r>
              <a:t>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Merci pour votre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59E0B"/>
                </a:solidFill>
                <a:latin typeface="Calibri"/>
              </a:defRPr>
            </a:pPr>
            <a:r>
              <a:t>Place aux questions 💬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2971800"/>
            <a:ext cx="5852160" cy="45720"/>
          </a:xfrm>
          <a:prstGeom prst="rect">
            <a:avLst/>
          </a:prstGeom>
          <a:solidFill>
            <a:srgbClr val="1E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B7CC8"/>
                </a:solidFill>
                <a:latin typeface="Calibri"/>
              </a:defRPr>
            </a:pPr>
            <a:r>
              <a:t>Portail de Suivi du Doctorat · Spring Boot 3 · Thymeleaf · Spring Security · JPA · H2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566160"/>
            <a:ext cx="1828800" cy="411480"/>
          </a:xfrm>
          <a:prstGeom prst="rect">
            <a:avLst/>
          </a:prstGeom>
          <a:solidFill>
            <a:srgbClr val="122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1828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dirty="0"/>
              <a:t>👤  </a:t>
            </a:r>
            <a:r>
              <a:rPr lang="de-DE" dirty="0"/>
              <a:t>Hiba El Khayat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3474720" y="3566160"/>
            <a:ext cx="1828800" cy="411480"/>
          </a:xfrm>
          <a:prstGeom prst="rect">
            <a:avLst/>
          </a:prstGeom>
          <a:solidFill>
            <a:srgbClr val="122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3566160"/>
            <a:ext cx="1828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dirty="0"/>
              <a:t>👤  </a:t>
            </a:r>
            <a:r>
              <a:rPr lang="de-DE" dirty="0"/>
              <a:t>Assia Abouzraa</a:t>
            </a:r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5852160" y="3566160"/>
            <a:ext cx="1828800" cy="411480"/>
          </a:xfrm>
          <a:prstGeom prst="rect">
            <a:avLst/>
          </a:prstGeom>
          <a:solidFill>
            <a:srgbClr val="122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52160" y="3566160"/>
            <a:ext cx="1828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rPr lang="de-DE" dirty="0"/>
              <a:t>Youssef El Aissioui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4B8A"/>
                </a:solidFill>
                <a:latin typeface="Calibri"/>
              </a:defRPr>
            </a:pPr>
            <a:r>
              <a:t>Matière : Java EE · Année universitaire 2025–2026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873</Words>
  <Application>Microsoft Office PowerPoint</Application>
  <PresentationFormat>Widescreen</PresentationFormat>
  <Paragraphs>120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youssef elaissioui</cp:lastModifiedBy>
  <cp:revision>7</cp:revision>
  <dcterms:created xsi:type="dcterms:W3CDTF">2013-01-27T09:14:16Z</dcterms:created>
  <dcterms:modified xsi:type="dcterms:W3CDTF">2026-05-21T13:49:31Z</dcterms:modified>
  <cp:category/>
</cp:coreProperties>
</file>